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cd42ecac2346f4" /><Relationship Type="http://schemas.openxmlformats.org/officeDocument/2006/relationships/extended-properties" Target="/docProps/app.xml" Id="Rb49951410b7c4b31" /><Relationship Type="http://schemas.openxmlformats.org/officeDocument/2006/relationships/officeDocument" Target="/ppt/presentation.xml" Id="Rb9288068eee94c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e101ca85cf46fe"/>
  </p:sldMasterIdLst>
  <p:notesMasterIdLst>
    <p:notesMasterId xmlns:r="http://schemas.openxmlformats.org/officeDocument/2006/relationships" r:id="Rebf76a83bb54427d"/>
  </p:notesMasterIdLst>
  <p:sldIdLst>
    <p:sldId xmlns:r="http://schemas.openxmlformats.org/officeDocument/2006/relationships" id="256" r:id="Rd48bd3f4ec914346"/>
    <p:sldId xmlns:r="http://schemas.openxmlformats.org/officeDocument/2006/relationships" id="257" r:id="R7ec0819627224f12"/>
    <p:sldId xmlns:r="http://schemas.openxmlformats.org/officeDocument/2006/relationships" id="258" r:id="Rb1627c1611fb4b57"/>
    <p:sldId xmlns:r="http://schemas.openxmlformats.org/officeDocument/2006/relationships" id="259" r:id="Re4e9d92e01d94a2f"/>
    <p:sldId xmlns:r="http://schemas.openxmlformats.org/officeDocument/2006/relationships" id="260" r:id="Rf5915be8d6484857"/>
    <p:sldId xmlns:r="http://schemas.openxmlformats.org/officeDocument/2006/relationships" id="261" r:id="R88ceb614fa8b4235"/>
    <p:sldId xmlns:r="http://schemas.openxmlformats.org/officeDocument/2006/relationships" id="262" r:id="R8741a735471944ee"/>
    <p:sldId xmlns:r="http://schemas.openxmlformats.org/officeDocument/2006/relationships" id="263" r:id="R33df044274514840"/>
    <p:sldId xmlns:r="http://schemas.openxmlformats.org/officeDocument/2006/relationships" id="264" r:id="R088791f477774169"/>
    <p:sldId xmlns:r="http://schemas.openxmlformats.org/officeDocument/2006/relationships" id="265" r:id="R27cee3b3ff4b434d"/>
    <p:sldId xmlns:r="http://schemas.openxmlformats.org/officeDocument/2006/relationships" id="266" r:id="R52e319888a844b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695d8b28be4b99" /><Relationship Type="http://schemas.openxmlformats.org/officeDocument/2006/relationships/slideMaster" Target="/ppt/slideMasters/slideMaster1.xml" Id="R39e101ca85cf46fe" /><Relationship Type="http://schemas.openxmlformats.org/officeDocument/2006/relationships/notesMaster" Target="/ppt/notesMasters/notesMaster1.xml" Id="Rebf76a83bb54427d" /><Relationship Type="http://schemas.openxmlformats.org/officeDocument/2006/relationships/presProps" Target="/ppt/presProps.xml" Id="R40988482db7a4923" /><Relationship Type="http://schemas.openxmlformats.org/officeDocument/2006/relationships/tableStyles" Target="/ppt/tableStyles.xml" Id="R0c8d5d6a42fa4069" /><Relationship Type="http://schemas.openxmlformats.org/officeDocument/2006/relationships/slide" Target="/ppt/slides/slide1.xml" Id="Rd48bd3f4ec914346" /><Relationship Type="http://schemas.openxmlformats.org/officeDocument/2006/relationships/slide" Target="/ppt/slides/slide2.xml" Id="R7ec0819627224f12" /><Relationship Type="http://schemas.openxmlformats.org/officeDocument/2006/relationships/slide" Target="/ppt/slides/slide3.xml" Id="Rb1627c1611fb4b57" /><Relationship Type="http://schemas.openxmlformats.org/officeDocument/2006/relationships/slide" Target="/ppt/slides/slide4.xml" Id="Re4e9d92e01d94a2f" /><Relationship Type="http://schemas.openxmlformats.org/officeDocument/2006/relationships/slide" Target="/ppt/slides/slide5.xml" Id="Rf5915be8d6484857" /><Relationship Type="http://schemas.openxmlformats.org/officeDocument/2006/relationships/slide" Target="/ppt/slides/slide6.xml" Id="R88ceb614fa8b4235" /><Relationship Type="http://schemas.openxmlformats.org/officeDocument/2006/relationships/slide" Target="/ppt/slides/slide7.xml" Id="R8741a735471944ee" /><Relationship Type="http://schemas.openxmlformats.org/officeDocument/2006/relationships/slide" Target="/ppt/slides/slide8.xml" Id="R33df044274514840" /><Relationship Type="http://schemas.openxmlformats.org/officeDocument/2006/relationships/slide" Target="/ppt/slides/slide9.xml" Id="R088791f477774169" /><Relationship Type="http://schemas.openxmlformats.org/officeDocument/2006/relationships/slide" Target="/ppt/slides/slide10.xml" Id="R27cee3b3ff4b434d" /><Relationship Type="http://schemas.openxmlformats.org/officeDocument/2006/relationships/slide" Target="/ppt/slides/slide11.xml" Id="R52e319888a844b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99060a551740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e34b1448bd48a1" /><Relationship Type="http://schemas.openxmlformats.org/officeDocument/2006/relationships/notesMaster" Target="/ppt/notesMasters/notesMaster1.xml" Id="R642d903825f945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2983059c5f4694" /><Relationship Type="http://schemas.openxmlformats.org/officeDocument/2006/relationships/notesMaster" Target="/ppt/notesMasters/notesMaster1.xml" Id="R589ea4b4a71240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e1229ed35c4696" /><Relationship Type="http://schemas.openxmlformats.org/officeDocument/2006/relationships/notesMaster" Target="/ppt/notesMasters/notesMaster1.xml" Id="Ra01cfb50c0ea4f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8e278268444870" /><Relationship Type="http://schemas.openxmlformats.org/officeDocument/2006/relationships/notesMaster" Target="/ppt/notesMasters/notesMaster1.xml" Id="R81ca29ce5da94b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43d4becade4471" /><Relationship Type="http://schemas.openxmlformats.org/officeDocument/2006/relationships/notesMaster" Target="/ppt/notesMasters/notesMaster1.xml" Id="R1e2bd026852c4d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abe02c90d849c5" /><Relationship Type="http://schemas.openxmlformats.org/officeDocument/2006/relationships/notesMaster" Target="/ppt/notesMasters/notesMaster1.xml" Id="R6a86417dcb1040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79e15de455407f" /><Relationship Type="http://schemas.openxmlformats.org/officeDocument/2006/relationships/notesMaster" Target="/ppt/notesMasters/notesMaster1.xml" Id="R391c77eea0df48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e2de9407534be3" /><Relationship Type="http://schemas.openxmlformats.org/officeDocument/2006/relationships/notesMaster" Target="/ppt/notesMasters/notesMaster1.xml" Id="R0216adbc50f845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d024a009e94b1d" /><Relationship Type="http://schemas.openxmlformats.org/officeDocument/2006/relationships/notesMaster" Target="/ppt/notesMasters/notesMaster1.xml" Id="R65516df8c4ca44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d077a9157a46a6" /><Relationship Type="http://schemas.openxmlformats.org/officeDocument/2006/relationships/notesMaster" Target="/ppt/notesMasters/notesMaster1.xml" Id="R3d9f61ee207c44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54948e179046d9" /><Relationship Type="http://schemas.openxmlformats.org/officeDocument/2006/relationships/notesMaster" Target="/ppt/notesMasters/notesMaster1.xml" Id="Rde5fbf1f701842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0:45</a:t>
            </a:r>
          </a:p>
          <a:p xmlns:a="http://schemas.openxmlformats.org/drawingml/2006/main">
            <a:r>
              <a:t>Open with the human problem: an older adult living alone may need a timely check-in before a situation becomes an emergency.</a:t>
            </a:r>
          </a:p>
          <a:p xmlns:a="http://schemas.openxmlformats.org/drawingml/2006/main">
            <a:r>
              <a:t>Frame the system as a screening and support companion—not a diagnostic medical device.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docs/RESEARCH.md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2:00</a:t>
            </a:r>
          </a:p>
          <a:p xmlns:a="http://schemas.openxmlformats.org/drawingml/2006/main">
            <a:r>
              <a:t>Walk left-to-right through sense, reason, respond.</a:t>
            </a:r>
          </a:p>
          <a:p xmlns:a="http://schemas.openxmlformats.org/drawingml/2006/main">
            <a:r>
              <a:t>Use the dashboard screenshot to make the project tangible: the user sees readable signals, not raw model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docs/dashboard_preview.png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1:30</a:t>
            </a:r>
          </a:p>
          <a:p xmlns:a="http://schemas.openxmlformats.org/drawingml/2006/main">
            <a:r>
              <a:t>Describe the role as end-to-end ownership, not just feature coding.</a:t>
            </a:r>
          </a:p>
          <a:p xmlns:a="http://schemas.openxmlformats.org/drawingml/2006/main">
            <a:r>
              <a:t>Connect technical work to the outcome: maintainable modules, credible measurements, and safe interactions.</a:t>
            </a:r>
          </a:p>
          <a:p xmlns:a="http://schemas.openxmlformats.org/drawingml/2006/main">
            <a:r>
              <a:t>All 39 repository commits are attributed to Gabriel in the current git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shortlog and git rev-list, repository state on 2026-08-06</a:t>
            </a:r>
          </a:p>
          <a:p xmlns:a="http://schemas.openxmlformats.org/drawingml/2006/main">
            <a:r>
              <a:t>-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1:30</a:t>
            </a:r>
          </a:p>
          <a:p xmlns:a="http://schemas.openxmlformats.org/drawingml/2006/main">
            <a:r>
              <a:t>Set expectations for the next 15 minutes.</a:t>
            </a:r>
          </a:p>
          <a:p xmlns:a="http://schemas.openxmlformats.org/drawingml/2006/main">
            <a:r>
              <a:t>Emphasize the end objective: pilot readiness is defined by reliability and safe escalation, not the number of detections.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2:00</a:t>
            </a:r>
          </a:p>
          <a:p xmlns:a="http://schemas.openxmlformats.org/drawingml/2006/main">
            <a:r>
              <a:t>Explain that modules do not directly control the user experience; the aggregator creates a shared truth layer.</a:t>
            </a:r>
          </a:p>
          <a:p xmlns:a="http://schemas.openxmlformats.org/drawingml/2006/main">
            <a:r>
              <a:t>Call out the separation between conversational assistance and deterministic emergency/caregiver alerting.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 lines 13–58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2:15</a:t>
            </a:r>
          </a:p>
          <a:p xmlns:a="http://schemas.openxmlformats.org/drawingml/2006/main">
            <a:r>
              <a:t>Treat counts as evidence of breadth, not as proof of clinical performance.</a:t>
            </a:r>
          </a:p>
          <a:p xmlns:a="http://schemas.openxmlformats.org/drawingml/2006/main">
            <a:r>
              <a:t>Highlight delivered areas: modular sensing, guided assessments, vitals backends, dashboard/console, conversation safeguards, RealSense support and privacy-safe diagnostics.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modules/*.py count on 2026-08-06</a:t>
            </a:r>
          </a:p>
          <a:p xmlns:a="http://schemas.openxmlformats.org/drawingml/2006/main">
            <a:r>
              <a:t>- tests/*test.py scan on 2026-08-06</a:t>
            </a:r>
          </a:p>
          <a:p xmlns:a="http://schemas.openxmlformats.org/drawingml/2006/main">
            <a:r>
              <a:t>- git rev-list on 2026-08-06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2:30</a:t>
            </a:r>
          </a:p>
          <a:p xmlns:a="http://schemas.openxmlformats.org/drawingml/2006/main">
            <a:r>
              <a:t>Give one concrete example for each challenge: motion corrupting rPPG; heavy inference reducing analysis FPS; conversational language overstating an uncertain observation.</a:t>
            </a:r>
          </a:p>
          <a:p xmlns:a="http://schemas.openxmlformats.org/drawingml/2006/main">
            <a:r>
              <a:t>Mention hardware-bound gaps: blood pressure requires a contact or calibrated sensor; fever confirmation requires thermal/IR; multi-person tracking is not yet supported.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docs/RESEARCH.md lines 95–121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docs/SKIN_DETECTION.md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2:15</a:t>
            </a:r>
          </a:p>
          <a:p xmlns:a="http://schemas.openxmlformats.org/drawingml/2006/main">
            <a:r>
              <a:t>Connect each strategy directly to the challenge on the prior slide.</a:t>
            </a:r>
          </a:p>
          <a:p xmlns:a="http://schemas.openxmlformats.org/drawingml/2006/main">
            <a:r>
              <a:t>Emphasize graceful degradation as a product strength: unavailable capabilities are reported clearly rather than silently faked.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tests/runtime_performance_test.py</a:t>
            </a:r>
          </a:p>
          <a:p xmlns:a="http://schemas.openxmlformats.org/drawingml/2006/main">
            <a:r>
              <a:t>- tests/vitals_debug_test.py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2:00</a:t>
            </a:r>
          </a:p>
          <a:p xmlns:a="http://schemas.openxmlformats.org/drawingml/2006/main">
            <a:r>
              <a:t>Position validation as the primary next investment.</a:t>
            </a:r>
          </a:p>
          <a:p xmlns:a="http://schemas.openxmlformats.org/drawingml/2006/main">
            <a:r>
              <a:t>Be explicit that adding more models comes after evidence that the existing loop is stable and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docs/RESEARCH.md</a:t>
            </a:r>
          </a:p>
          <a:p xmlns:a="http://schemas.openxmlformats.org/drawingml/2006/main">
            <a:r>
              <a:t>- docs/REALSENSE_D435I.md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1:15</a:t>
            </a:r>
          </a:p>
          <a:p xmlns:a="http://schemas.openxmlformats.org/drawingml/2006/main">
            <a:r>
              <a:t>Close the presentation portion with three actions and their success criteria.</a:t>
            </a:r>
          </a:p>
          <a:p xmlns:a="http://schemas.openxmlformats.org/drawingml/2006/main">
            <a:r>
              <a:t>Invite alignment on target hardware, reference devices, pilot participants and the acceptable alerting threshold.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docs/RESEARCH.md</a:t>
            </a:r>
          </a:p>
          <a:p xmlns:a="http://schemas.openxmlformats.org/drawingml/2006/main">
            <a:r>
              <a:t>- docs/AI_DEVELOPMENT.md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10:00 Q&amp;A</a:t>
            </a:r>
          </a:p>
          <a:p xmlns:a="http://schemas.openxmlformats.org/drawingml/2006/main">
            <a:r>
              <a:t>Use the three prompts on the slide to structure discussion if questions are slow to start.</a:t>
            </a:r>
          </a:p>
          <a:p xmlns:a="http://schemas.openxmlformats.org/drawingml/2006/main">
            <a:r>
              <a:t>Capture decisions on pilot environment, measurement references and escalation ownership.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discussion prompts derived from the project roadmap.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cb135e121d45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18bef8272a4771" /><Relationship Type="http://schemas.openxmlformats.org/officeDocument/2006/relationships/slideLayout" Target="/ppt/slideLayouts/slideLayout1.xml" Id="Rba7c13b0a4e442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7c13b0a4e442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0c244f9a3446d" /><Relationship Type="http://schemas.openxmlformats.org/officeDocument/2006/relationships/notesSlide" Target="/ppt/notesSlides/notesSlide1.xml" Id="Rba91846bb18c42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cdaa15c3b4026" /><Relationship Type="http://schemas.openxmlformats.org/officeDocument/2006/relationships/image" Target="/ppt/media/image.png" Id="R9656ea9f73754e75" /><Relationship Type="http://schemas.openxmlformats.org/officeDocument/2006/relationships/notesSlide" Target="/ppt/notesSlides/notesSlide2.xml" Id="Rfa880ff4b81845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a6ef9413e49e8" /><Relationship Type="http://schemas.openxmlformats.org/officeDocument/2006/relationships/notesSlide" Target="/ppt/notesSlides/notesSlide3.xml" Id="Rb42e8b7281c54d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4d07dcc604cab" /><Relationship Type="http://schemas.openxmlformats.org/officeDocument/2006/relationships/notesSlide" Target="/ppt/notesSlides/notesSlide4.xml" Id="R268d3aacd9f44b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561946e304f66" /><Relationship Type="http://schemas.openxmlformats.org/officeDocument/2006/relationships/notesSlide" Target="/ppt/notesSlides/notesSlide5.xml" Id="Rc867ce24ff9d49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c74812d704025" /><Relationship Type="http://schemas.openxmlformats.org/officeDocument/2006/relationships/notesSlide" Target="/ppt/notesSlides/notesSlide6.xml" Id="R20402f9d44f340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d068eab294a12" /><Relationship Type="http://schemas.openxmlformats.org/officeDocument/2006/relationships/notesSlide" Target="/ppt/notesSlides/notesSlide7.xml" Id="Rc0320b04a9a246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beb0b66284744" /><Relationship Type="http://schemas.openxmlformats.org/officeDocument/2006/relationships/notesSlide" Target="/ppt/notesSlides/notesSlide8.xml" Id="R6e654180ae7846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a8fa52cfd49f9" /><Relationship Type="http://schemas.openxmlformats.org/officeDocument/2006/relationships/notesSlide" Target="/ppt/notesSlides/notesSlide9.xml" Id="R67107fe768ea4e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ceacf7b6f425e" /><Relationship Type="http://schemas.openxmlformats.org/officeDocument/2006/relationships/notesSlide" Target="/ppt/notesSlides/notesSlide10.xml" Id="Rfcc0c9ee979d44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1fee4e6804ad1" /><Relationship Type="http://schemas.openxmlformats.org/officeDocument/2006/relationships/notesSlide" Target="/ppt/notesSlides/notesSlide11.xml" Id="Rce8f83548a7d4a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2B0DBEDC-4CFE-4DF6-90C3-D0933590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Companion for
Elderly Care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C15753A-A914-4D5D-929E-23EDC51B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modular sensing and conversation system designed to turn live observations into gentle, safe support.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4C2E5CB-724B-4642-997D-125DFEFA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PROJECT UPDATE · AUGUST 2026</a:t>
            </a:r>
          </a:p>
        </p:txBody>
      </p:sp>
      <p:sp>
        <p:nvSpPr>
          <p:cNvPr id="4" name="accent-1">
            <a:extLst xmlns:a="http://schemas.openxmlformats.org/drawingml/2006/main">
              <a:ext uri="{FF2B5EF4-FFF2-40B4-BE49-F238E27FC236}">
                <a16:creationId xmlns:a16="http://schemas.microsoft.com/office/drawing/2014/main" id="{6A394F3E-4D6C-43BE-828D-AE12F94A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1">
            <a:extLst xmlns:a="http://schemas.openxmlformats.org/drawingml/2006/main">
              <a:ext uri="{FF2B5EF4-FFF2-40B4-BE49-F238E27FC236}">
                <a16:creationId xmlns:a16="http://schemas.microsoft.com/office/drawing/2014/main" id="{9C989166-D169-4A12-AC49-EAFA7F92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PROJECT UPDATE</a:t>
            </a:r>
          </a:p>
        </p:txBody>
      </p:sp>
    </p:spTree>
    <p:extLst>
      <p:ext uri="{BB962C8B-B14F-4D97-AF65-F5344CB8AC3E}">
        <p14:creationId xmlns:p14="http://schemas.microsoft.com/office/powerpoint/2010/main" val="4559096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F35893D-DDF1-443F-87C3-2095EBBB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0490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132329"/>
                </a:solidFill>
                <a:latin typeface="Helvetica Neue"/>
                <a:ea typeface="Helvetica Neue"/>
                <a:cs typeface="Helvetica Neue"/>
              </a:defRPr>
            </a:pPr>
            <a:r>
              <a:t>The project turns camera and audio signals into understandable support</a:t>
            </a:r>
          </a:p>
        </p:txBody>
      </p:sp>
      <p:sp>
        <p:nvSpPr>
          <p:cNvPr id="2" name="overview-copy">
            <a:extLst xmlns:a="http://schemas.openxmlformats.org/drawingml/2006/main">
              <a:ext uri="{FF2B5EF4-FFF2-40B4-BE49-F238E27FC236}">
                <a16:creationId xmlns:a16="http://schemas.microsoft.com/office/drawing/2014/main" id="{9BAE3150-A8EE-45F3-8EA1-E77A089A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57350"/>
            <a:ext cx="5381625" cy="433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329"/>
                </a:solidFill>
                <a:latin typeface="Helvetica Neue"/>
                <a:ea typeface="Helvetica Neue"/>
                <a:cs typeface="Helvetica Neue"/>
              </a:defRPr>
            </a:pPr>
            <a:r>
              <a:t>PROJECT OVERVIEW
Sense
Camera, depth and optional audio create a live context.
Reason
Independent modules estimate safety, health and emotional signals with confidence and quality gates.
Respond
A dashboard, voice agent and deterministic alerts turn evidence into appropriate action.</a:t>
            </a:r>
          </a:p>
        </p:txBody>
      </p:sp>
      <p:sp>
        <p:nvSpPr>
          <p:cNvPr id="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FAF31C5B-5037-47F1-B416-3752D540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04950"/>
            <a:ext cx="5534025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D9F0F4"/>
          </a:solidFill>
          <a:ln xmlns:a="http://schemas.openxmlformats.org/drawingml/2006/main" w="9525">
            <a:solidFill>
              <a:srgbClr val="147D92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6ea9f73754e75"/>
          <a:stretch xmlns:a="http://schemas.openxmlformats.org/drawingml/2006/main"/>
        </p:blipFill>
        <p:spPr>
          <a:xfrm xmlns:a="http://schemas.openxmlformats.org/drawingml/2006/main">
            <a:off x="7245621" y="1657350"/>
            <a:ext cx="3577683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5" name="accent-2">
            <a:extLst xmlns:a="http://schemas.openxmlformats.org/drawingml/2006/main">
              <a:ext uri="{FF2B5EF4-FFF2-40B4-BE49-F238E27FC236}">
                <a16:creationId xmlns:a16="http://schemas.microsoft.com/office/drawing/2014/main" id="{1238612F-82DF-4B7D-89F3-52B769C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ection-2">
            <a:extLst xmlns:a="http://schemas.openxmlformats.org/drawingml/2006/main">
              <a:ext uri="{FF2B5EF4-FFF2-40B4-BE49-F238E27FC236}">
                <a16:creationId xmlns:a16="http://schemas.microsoft.com/office/drawing/2014/main" id="{F661457E-02D2-47A1-B3A4-E61A43EC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1369104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B177F4B-F6DB-4CD9-A2E8-0327A055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4329995-A139-4FAE-9405-8B6BFBED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My role spans the full path from model idea to safe user experience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8231937F-D298-4B9C-8AA1-75C1AD94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642DB55-AD3B-4057-B3BC-EF347477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 THE CORE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9D71B50A-9834-41DB-AD6B-2A0053BE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Modular pipeline + scheduler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Vision, vitals and conversation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Dashboard and developer tooling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88487679-B3B8-46F3-AB77-943209DE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9EB5A0E5-20EB-4115-AD60-C15A0CE5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MAKE IT TRUSTWORTHY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B96DA2E3-AC11-41C4-87D1-36FD5C71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Confidence and quality gates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Privacy-safe context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Tests, diagnostics and fallbacks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B65C10A4-DA2E-4DBE-B459-F166E518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ROLE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Developer and systems integrator—owning architecture, implementation, validation and the experience that connects them.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0" name="accent-3">
            <a:extLst xmlns:a="http://schemas.openxmlformats.org/drawingml/2006/main">
              <a:ext uri="{FF2B5EF4-FFF2-40B4-BE49-F238E27FC236}">
                <a16:creationId xmlns:a16="http://schemas.microsoft.com/office/drawing/2014/main" id="{B5EC7539-74F0-49AD-8816-E60AF20A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ction-3">
            <a:extLst xmlns:a="http://schemas.openxmlformats.org/drawingml/2006/main">
              <a:ext uri="{FF2B5EF4-FFF2-40B4-BE49-F238E27FC236}">
                <a16:creationId xmlns:a16="http://schemas.microsoft.com/office/drawing/2014/main" id="{3AF6C416-AF8D-44A6-8E84-9F0A20CE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MY ROLE</a:t>
            </a:r>
          </a:p>
        </p:txBody>
      </p:sp>
    </p:spTree>
    <p:extLst>
      <p:ext uri="{BB962C8B-B14F-4D97-AF65-F5344CB8AC3E}">
        <p14:creationId xmlns:p14="http://schemas.microsoft.com/office/powerpoint/2010/main" val="35816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CF66C300-8A7C-4A43-BB4C-2D748367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F3830065-70AA-413D-BE8B-1D32E5F2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agenda is organized around one end objective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215ED906-963A-46D1-A8E3-D7C6D87C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· WHY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problem, the user and the boundaries of a screening companion.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651BBBA-D00C-4900-B9FD-CB686575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· WHAT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Architecture, major capabilities and the working experience.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49F2FE2-4B83-4A0E-BAE1-D35CD815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· LEARNINGS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Progress, constraints and the strategies used to manage risk.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663650E-984E-4B22-A21F-D73662C3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END OBJECTIVE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reliable pilot that notices meaningful change, explains uncertainty and escalates safely.</a:t>
            </a:r>
          </a:p>
        </p:txBody>
      </p:sp>
      <p:sp>
        <p:nvSpPr>
          <p:cNvPr id="7" name="accent-4">
            <a:extLst xmlns:a="http://schemas.openxmlformats.org/drawingml/2006/main">
              <a:ext uri="{FF2B5EF4-FFF2-40B4-BE49-F238E27FC236}">
                <a16:creationId xmlns:a16="http://schemas.microsoft.com/office/drawing/2014/main" id="{E07954C5-7C51-4783-8DD4-69312758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tion-4">
            <a:extLst xmlns:a="http://schemas.openxmlformats.org/drawingml/2006/main">
              <a:ext uri="{FF2B5EF4-FFF2-40B4-BE49-F238E27FC236}">
                <a16:creationId xmlns:a16="http://schemas.microsoft.com/office/drawing/2014/main" id="{59F68E91-911F-415D-B196-D73E8A5C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3705961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9CA162F-2E5C-4B7F-A845-9F19CC77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58D0FA1-90E9-4239-8D1A-4720646C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simple three-stage loop keeps a complex system understandable</a:t>
            </a:r>
          </a:p>
        </p:txBody>
      </p:sp>
      <p:cxnSp>
        <p:nvCxnSpPr>
          <p:cNvPr id="17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130E022-B4FB-4B23-9338-5E1C5BFE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996CD1B3-0661-4B5E-9FC1-DBE836C7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06223972-236F-446C-A4F8-3CDE1FAA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CCC8355-3CF1-46C0-956E-2F860468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71606B18-C0E6-4A15-8453-45A22360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F38F74B-2572-4C79-AD81-917DA0B4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7A939B8-8A37-4287-8DF6-7FB17AEA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INTERPRET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scheduler runs hot-swappable detectors; results are aggregated with freshness and confidence.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867637C8-B3B1-4DF2-A88C-DEE0A212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SENSE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Camera, face, pose, motion, depth and optional audio build a bounded FrameContext.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9CE7D2C-3DC4-4023-8EDA-05A7DBBC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SUPPORT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Advice, conversation, dashboard and deterministic alerts act from the same current snapshot.</a:t>
            </a:r>
          </a:p>
        </p:txBody>
      </p:sp>
      <p:sp>
        <p:nvSpPr>
          <p:cNvPr id="13" name="accent-5">
            <a:extLst xmlns:a="http://schemas.openxmlformats.org/drawingml/2006/main">
              <a:ext uri="{FF2B5EF4-FFF2-40B4-BE49-F238E27FC236}">
                <a16:creationId xmlns:a16="http://schemas.microsoft.com/office/drawing/2014/main" id="{7554CA8F-F4A8-4C74-87A5-358DCF0C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ction-5">
            <a:extLst xmlns:a="http://schemas.openxmlformats.org/drawingml/2006/main">
              <a:ext uri="{FF2B5EF4-FFF2-40B4-BE49-F238E27FC236}">
                <a16:creationId xmlns:a16="http://schemas.microsoft.com/office/drawing/2014/main" id="{79FE4D5B-7101-45D4-A5C2-CF972E34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HOW IT WORKS</a:t>
            </a:r>
          </a:p>
        </p:txBody>
      </p:sp>
    </p:spTree>
    <p:extLst>
      <p:ext uri="{BB962C8B-B14F-4D97-AF65-F5344CB8AC3E}">
        <p14:creationId xmlns:p14="http://schemas.microsoft.com/office/powerpoint/2010/main" val="13257539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00716FE1-FCE2-4B16-9738-96A6D504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0296EE9A-F54D-4017-AB67-01ED662A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91E452B-ACE1-4167-BBE1-23B5E244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6B1FF189-900B-463A-AA5E-3B0585EA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536FB5A0-D327-4355-A67C-66D06AEC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foundation is broad, modular and heavily exercised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C20680C-7414-4C33-BDDA-052B9103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detector and support modules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BF6EC96-3D7E-4925-85B1-09E0309C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commits in the current history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479C8329-3422-4D52-8C74-E3BAC8DB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automated test functions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004F9BB5-545D-4D16-AF3B-CFB0079A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52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286B06F7-1E73-4051-BACA-A422433F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521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CC25A38-C888-4237-A123-1D04FB9E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39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224B55E-B090-4F15-B2B8-523D3E4E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PROGRESS MADE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repository now covers the complete path from capture to guest-facing output, with optional backends isolated behind clear capability and consent boundaries.</a:t>
            </a:r>
          </a:p>
        </p:txBody>
      </p:sp>
      <p:sp>
        <p:nvSpPr>
          <p:cNvPr id="13" name="accent-6">
            <a:extLst xmlns:a="http://schemas.openxmlformats.org/drawingml/2006/main">
              <a:ext uri="{FF2B5EF4-FFF2-40B4-BE49-F238E27FC236}">
                <a16:creationId xmlns:a16="http://schemas.microsoft.com/office/drawing/2014/main" id="{7059C677-5283-4E46-8935-28A2632C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ction-6">
            <a:extLst xmlns:a="http://schemas.openxmlformats.org/drawingml/2006/main">
              <a:ext uri="{FF2B5EF4-FFF2-40B4-BE49-F238E27FC236}">
                <a16:creationId xmlns:a16="http://schemas.microsoft.com/office/drawing/2014/main" id="{5EA98444-0174-4DD6-BCE4-690F3C35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PROGRESS</a:t>
            </a:r>
          </a:p>
        </p:txBody>
      </p:sp>
    </p:spTree>
    <p:extLst>
      <p:ext uri="{BB962C8B-B14F-4D97-AF65-F5344CB8AC3E}">
        <p14:creationId xmlns:p14="http://schemas.microsoft.com/office/powerpoint/2010/main" val="19368749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76E17B6-9411-46B4-B3E8-19E4DA2B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D676342-8449-4DA6-A3A2-4F2AC834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hardest challenges are reliability, real-time performance and safety</a:t>
            </a:r>
          </a:p>
        </p:txBody>
      </p:sp>
      <p:cxnSp>
        <p:nvCxnSpPr>
          <p:cNvPr id="20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A3A04C3-D834-4981-9076-9232A9CC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B526920-E931-4648-B9A6-60621943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4A6B0C0-1BF9-4C49-A60A-40DBACBB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D61AA8AA-FB96-4EDF-8438-2660EB0B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12D29C31-9A28-4765-8A8D-90B65B78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NOISY SIGNALS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Lighting, movement, distance and camera quality can turn plausible estimates into misleading ones.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99FDBA04-745B-46E9-A98B-322C354C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0FF25FB0-51B8-4944-A773-AB4AFF4A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SHARED COMPUTE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Face, pose, rPPG, VLM and UI work must coexist without starving the live capture loop.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6A349996-348C-424C-A40C-D5F78C6A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E209B491-51A5-49E0-990A-D475882D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HIGH-STAKES UX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companion must be useful without sounding diagnostic, exposing private data or taking unconfirmed action.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DBB492A1-2871-4983-94B5-A0336F3A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SYSTEM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74ADA8FD-5AD7-4FBF-8705-072571F8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587071ED-0B78-4B49-A7FB-F43EEA53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TRUST</a:t>
            </a:r>
          </a:p>
        </p:txBody>
      </p:sp>
      <p:sp>
        <p:nvSpPr>
          <p:cNvPr id="16" name="accent-7">
            <a:extLst xmlns:a="http://schemas.openxmlformats.org/drawingml/2006/main">
              <a:ext uri="{FF2B5EF4-FFF2-40B4-BE49-F238E27FC236}">
                <a16:creationId xmlns:a16="http://schemas.microsoft.com/office/drawing/2014/main" id="{816236F3-5CCE-457E-96D5-9EADB195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ection-7">
            <a:extLst xmlns:a="http://schemas.openxmlformats.org/drawingml/2006/main">
              <a:ext uri="{FF2B5EF4-FFF2-40B4-BE49-F238E27FC236}">
                <a16:creationId xmlns:a16="http://schemas.microsoft.com/office/drawing/2014/main" id="{67D17BAF-FF2F-4950-AAF0-33EBC618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11391311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62804CC2-5B3F-4DAE-A9B0-C711F483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EF5AC407-28C6-4CD3-A44A-1E9E73D9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Constraints became explicit engineering strategies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99FD246B-6E03-46C6-98FC-38D9DDCD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QUALITY BEFORE VALUE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Hide stale, blocked or low-confidence measurements instead of presenting false precision.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7F8608D-EA04-483F-8774-D61E4BC1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BOUND THE WORK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Decouple capture from analysis, cache expensive results and drop old work before it creates latency.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C0DE35F-72BD-4DB2-9455-3F6B66E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SAFE BY DESIGN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Keep calls for help deterministic; require explicit confirmation for model-proposed assessments.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A4A9794-EC59-45A9-8293-A9E2FD2C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DEGRADE GRACEFULLY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Make cloud, neural and hardware-specific features optional while preserving a useful local baseline.</a:t>
            </a:r>
          </a:p>
        </p:txBody>
      </p:sp>
      <p:sp>
        <p:nvSpPr>
          <p:cNvPr id="7" name="accent-8">
            <a:extLst xmlns:a="http://schemas.openxmlformats.org/drawingml/2006/main">
              <a:ext uri="{FF2B5EF4-FFF2-40B4-BE49-F238E27FC236}">
                <a16:creationId xmlns:a16="http://schemas.microsoft.com/office/drawing/2014/main" id="{DCCA5B39-C18D-4D06-8390-5688C30C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tion-8">
            <a:extLst xmlns:a="http://schemas.openxmlformats.org/drawingml/2006/main">
              <a:ext uri="{FF2B5EF4-FFF2-40B4-BE49-F238E27FC236}">
                <a16:creationId xmlns:a16="http://schemas.microsoft.com/office/drawing/2014/main" id="{C6D558B1-3F8F-4E11-953C-9AB0BE61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STRATEGIES</a:t>
            </a:r>
          </a:p>
        </p:txBody>
      </p:sp>
    </p:spTree>
    <p:extLst>
      <p:ext uri="{BB962C8B-B14F-4D97-AF65-F5344CB8AC3E}">
        <p14:creationId xmlns:p14="http://schemas.microsoft.com/office/powerpoint/2010/main" val="1390797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8C97518-B2BC-4D72-9C59-C8F1C84D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787FAC7-B735-4114-A49E-DA03643E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way forward moves from technical breadth to validated usefulness</a:t>
            </a:r>
          </a:p>
        </p:txBody>
      </p:sp>
      <p:cxnSp>
        <p:nvCxnSpPr>
          <p:cNvPr id="17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4BC3337-8D07-4B58-9684-6220F0E3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06505E89-3C7E-4461-BCEC-5E08B0C0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1D627CF-DFA2-4327-818F-CB9D63E6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00075CC8-D4C3-427C-9DE2-EA5D718F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 2–4 WEEKS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C332FA0-5B44-4483-B013-CD6E1B6D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NEXT 1–2 MONTHS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209A353-1FA9-4AEA-AE1C-022AE2CE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THEN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D5B98BA0-6BAB-4417-A0AD-53BBD63C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INTEGRATE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Add calibrated pulse-ox, thermal or other sensors only where they materially improve confidence.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9A07F2BE-286D-4D19-BE2A-2437F3C8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Benchmark critical signals against reference devices across lighting, distance, movement and skin tones.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896C3826-3230-497E-8EDF-CA12D17D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PILOT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 supervised home-like trials; tune prompts, alert thresholds, accessibility and caregiver workflows.</a:t>
            </a:r>
          </a:p>
        </p:txBody>
      </p:sp>
      <p:sp>
        <p:nvSpPr>
          <p:cNvPr id="13" name="accent-9">
            <a:extLst xmlns:a="http://schemas.openxmlformats.org/drawingml/2006/main">
              <a:ext uri="{FF2B5EF4-FFF2-40B4-BE49-F238E27FC236}">
                <a16:creationId xmlns:a16="http://schemas.microsoft.com/office/drawing/2014/main" id="{FFF11E10-E790-4EC9-88AA-4B37B48B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ction-9">
            <a:extLst xmlns:a="http://schemas.openxmlformats.org/drawingml/2006/main">
              <a:ext uri="{FF2B5EF4-FFF2-40B4-BE49-F238E27FC236}">
                <a16:creationId xmlns:a16="http://schemas.microsoft.com/office/drawing/2014/main" id="{74E1FEAE-A192-49B1-908D-984A869A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WAY FORWARD</a:t>
            </a:r>
          </a:p>
        </p:txBody>
      </p:sp>
    </p:spTree>
    <p:extLst>
      <p:ext uri="{BB962C8B-B14F-4D97-AF65-F5344CB8AC3E}">
        <p14:creationId xmlns:p14="http://schemas.microsoft.com/office/powerpoint/2010/main" val="3619040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710B154-C070-4DAF-A933-E350F26E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ADBBC8D-9ACB-499A-9134-24ABC6DE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Immediate next steps define what ‘pilot-ready’ means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2BC981C8-5FE8-4CCD-9233-C2C6D9FE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· CALIBRATE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Collect paired reference measurements and document acceptable error, failure and abstention behavior.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5340C6A9-534E-448F-BC75-563C6C63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· PILOT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 with users and caregivers; measure clarity, false alerts, response time and trust—not feature count.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884D5874-EC7A-48E6-88D6-297C0EAE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· HARDEN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 bounded replay, real-camera soak and privacy checks across target hardware profiles.</a:t>
            </a:r>
          </a:p>
        </p:txBody>
      </p:sp>
      <p:sp>
        <p:nvSpPr>
          <p:cNvPr id="6" name="accent-10">
            <a:extLst xmlns:a="http://schemas.openxmlformats.org/drawingml/2006/main">
              <a:ext uri="{FF2B5EF4-FFF2-40B4-BE49-F238E27FC236}">
                <a16:creationId xmlns:a16="http://schemas.microsoft.com/office/drawing/2014/main" id="{1293EED3-9FD3-4D70-B11B-D10B1DF3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ction-10">
            <a:extLst xmlns:a="http://schemas.openxmlformats.org/drawingml/2006/main">
              <a:ext uri="{FF2B5EF4-FFF2-40B4-BE49-F238E27FC236}">
                <a16:creationId xmlns:a16="http://schemas.microsoft.com/office/drawing/2014/main" id="{9A95DA24-16B8-4399-959C-0E02C66A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3483527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7B7F08C0-BB0E-4405-88F0-3E8A5779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Questions &amp;
next decisions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03EE6F7-A5C5-4856-B5E2-C41B0D4F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Target pilot environment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Validation hardware and metrics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Safety and caregiver workflow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884E8CE-BFB6-47A9-B9F5-D0675551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DISCUSSION</a:t>
            </a:r>
          </a:p>
        </p:txBody>
      </p:sp>
      <p:sp>
        <p:nvSpPr>
          <p:cNvPr id="4" name="accent-11">
            <a:extLst xmlns:a="http://schemas.openxmlformats.org/drawingml/2006/main">
              <a:ext uri="{FF2B5EF4-FFF2-40B4-BE49-F238E27FC236}">
                <a16:creationId xmlns:a16="http://schemas.microsoft.com/office/drawing/2014/main" id="{EB292987-70F5-45CE-A672-BF72F180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11">
            <a:extLst xmlns:a="http://schemas.openxmlformats.org/drawingml/2006/main">
              <a:ext uri="{FF2B5EF4-FFF2-40B4-BE49-F238E27FC236}">
                <a16:creationId xmlns:a16="http://schemas.microsoft.com/office/drawing/2014/main" id="{C12947DD-623E-4B80-9B5E-D4186EF9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10-MINUTE Q&amp;A</a:t>
            </a:r>
          </a:p>
        </p:txBody>
      </p:sp>
    </p:spTree>
    <p:extLst>
      <p:ext uri="{BB962C8B-B14F-4D97-AF65-F5344CB8AC3E}">
        <p14:creationId xmlns:p14="http://schemas.microsoft.com/office/powerpoint/2010/main" val="42323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2026-08-05T19:23:12.5560000Z</dcterms:created>
  <dcterms:modified xsi:type="dcterms:W3CDTF">2026-08-05T19:23:12.5560000Z</dcterms:modified>
</coreProperties>
</file>